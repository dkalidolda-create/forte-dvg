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32cb6551274c7d" /><Relationship Type="http://schemas.openxmlformats.org/officeDocument/2006/relationships/extended-properties" Target="/docProps/app.xml" Id="R5f79704b615745bd" /><Relationship Type="http://schemas.openxmlformats.org/officeDocument/2006/relationships/officeDocument" Target="/ppt/presentation.xml" Id="R51474f770a734a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9ddc36a4944bd5"/>
  </p:sldMasterIdLst>
  <p:notesMasterIdLst>
    <p:notesMasterId xmlns:r="http://schemas.openxmlformats.org/officeDocument/2006/relationships" r:id="R6fca24d8891e4170"/>
  </p:notesMasterIdLst>
  <p:sldIdLst>
    <p:sldId xmlns:r="http://schemas.openxmlformats.org/officeDocument/2006/relationships" id="256" r:id="R0b2c4d452a6647f4"/>
    <p:sldId xmlns:r="http://schemas.openxmlformats.org/officeDocument/2006/relationships" id="257" r:id="Re68fb2def8aa4ac7"/>
    <p:sldId xmlns:r="http://schemas.openxmlformats.org/officeDocument/2006/relationships" id="258" r:id="R80c4082749de40c4"/>
    <p:sldId xmlns:r="http://schemas.openxmlformats.org/officeDocument/2006/relationships" id="259" r:id="R263b4ef0df1d401b"/>
    <p:sldId xmlns:r="http://schemas.openxmlformats.org/officeDocument/2006/relationships" id="260" r:id="R4f75cd663dbd4111"/>
    <p:sldId xmlns:r="http://schemas.openxmlformats.org/officeDocument/2006/relationships" id="261" r:id="R3a09b8a83f414175"/>
    <p:sldId xmlns:r="http://schemas.openxmlformats.org/officeDocument/2006/relationships" id="262" r:id="Rba640e54e41c4f61"/>
    <p:sldId xmlns:r="http://schemas.openxmlformats.org/officeDocument/2006/relationships" id="263" r:id="R6c81d400d44746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ad5f73babb4049" /><Relationship Type="http://schemas.openxmlformats.org/officeDocument/2006/relationships/slideMaster" Target="/ppt/slideMasters/slideMaster1.xml" Id="Re89ddc36a4944bd5" /><Relationship Type="http://schemas.openxmlformats.org/officeDocument/2006/relationships/notesMaster" Target="/ppt/notesMasters/notesMaster1.xml" Id="R6fca24d8891e4170" /><Relationship Type="http://schemas.openxmlformats.org/officeDocument/2006/relationships/presProps" Target="/ppt/presProps.xml" Id="R2d495c458b6a4860" /><Relationship Type="http://schemas.openxmlformats.org/officeDocument/2006/relationships/tableStyles" Target="/ppt/tableStyles.xml" Id="R2d50f0ac353e4be7" /><Relationship Type="http://schemas.openxmlformats.org/officeDocument/2006/relationships/slide" Target="/ppt/slides/slide1.xml" Id="R0b2c4d452a6647f4" /><Relationship Type="http://schemas.openxmlformats.org/officeDocument/2006/relationships/slide" Target="/ppt/slides/slide2.xml" Id="Re68fb2def8aa4ac7" /><Relationship Type="http://schemas.openxmlformats.org/officeDocument/2006/relationships/slide" Target="/ppt/slides/slide3.xml" Id="R80c4082749de40c4" /><Relationship Type="http://schemas.openxmlformats.org/officeDocument/2006/relationships/slide" Target="/ppt/slides/slide4.xml" Id="R263b4ef0df1d401b" /><Relationship Type="http://schemas.openxmlformats.org/officeDocument/2006/relationships/slide" Target="/ppt/slides/slide5.xml" Id="R4f75cd663dbd4111" /><Relationship Type="http://schemas.openxmlformats.org/officeDocument/2006/relationships/slide" Target="/ppt/slides/slide6.xml" Id="R3a09b8a83f414175" /><Relationship Type="http://schemas.openxmlformats.org/officeDocument/2006/relationships/slide" Target="/ppt/slides/slide7.xml" Id="Rba640e54e41c4f61" /><Relationship Type="http://schemas.openxmlformats.org/officeDocument/2006/relationships/slide" Target="/ppt/slides/slide8.xml" Id="R6c81d400d44746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714be06c2640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82e9a5728e46c9" /><Relationship Type="http://schemas.openxmlformats.org/officeDocument/2006/relationships/notesMaster" Target="/ppt/notesMasters/notesMaster1.xml" Id="R4bac85b0858e40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05e699871642fc" /><Relationship Type="http://schemas.openxmlformats.org/officeDocument/2006/relationships/notesMaster" Target="/ppt/notesMasters/notesMaster1.xml" Id="R424459647f7d45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d5983c742a4060" /><Relationship Type="http://schemas.openxmlformats.org/officeDocument/2006/relationships/notesMaster" Target="/ppt/notesMasters/notesMaster1.xml" Id="R82d0b704f2ba44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d90430fe7a4d11" /><Relationship Type="http://schemas.openxmlformats.org/officeDocument/2006/relationships/notesMaster" Target="/ppt/notesMasters/notesMaster1.xml" Id="R38d7aaafc6ef40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546768881248c1" /><Relationship Type="http://schemas.openxmlformats.org/officeDocument/2006/relationships/notesMaster" Target="/ppt/notesMasters/notesMaster1.xml" Id="Red9d85f1ea3f41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24d10975a74af3" /><Relationship Type="http://schemas.openxmlformats.org/officeDocument/2006/relationships/notesMaster" Target="/ppt/notesMasters/notesMaster1.xml" Id="Rb5ddf98cff1040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85ee2a711c4f95" /><Relationship Type="http://schemas.openxmlformats.org/officeDocument/2006/relationships/notesMaster" Target="/ppt/notesMasters/notesMaster1.xml" Id="R7a56e119e51c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3b215ed1584699" /><Relationship Type="http://schemas.openxmlformats.org/officeDocument/2006/relationships/notesMaster" Target="/ppt/notesMasters/notesMaster1.xml" Id="R2c2bc964a78b43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Forte DVG помогает проверяющему найти на записи признаки возможного нарушения и проверить вывод. Сервис связывает событие с моментом видео, исходными кадрами и нормативным источником. Окончательное решение остаётся за человеком.</a:t>
            </a:r>
          </a:p>
          <a:p xmlns:a="http://schemas.openxmlformats.org/drawingml/2006/main">
            <a:r>
              <a:t>Источник: кейс ForteBank и реализованный локальный прототип. Сценарий: outputs/presentation/forte-dvg-presentation-script.md.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Для проверки недостаточно общего ответа «есть нарушение». Нужно установить, что произошло, где именно это видно и какое требование относится к ситуации. Пользователь получает конкретный фрагмент для проверки вместе с объяснением и ссылкой на источник.</a:t>
            </a:r>
          </a:p>
          <a:p xmlns:a="http://schemas.openxmlformats.org/drawingml/2006/main">
            <a:r>
              <a:t>Источник: требования разделов 5–7 кейса ForteBank.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секунд. Пользователь загружает видео. Сервис создаёт задание и показывает состояние обработки. После завершения рядом с видео появляется результат. Несколько событий доступны по отдельности. Выбор события позволяет перейти к соответствующему моменту и рассмотреть кадры. Сейчас на слайде схема сценария. Реальный результат демонстрируется отдельно в локальном продукте. Если результат открыт заранее, сказать «Вот результат ранее обработанного видео».</a:t>
            </a:r>
          </a:p>
          <a:p xmlns:a="http://schemas.openxmlformats.org/drawingml/2006/main">
            <a:r>
              <a:t>Источник: действующий frontend/web и FastAPI API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секунд. Пример: оставленные банкноты. Нужно подтвердить не только наличие денег на столе, но и то, что они уже приняты, а обслуживание завершено. Поэтому нужны исходные кадры и соседние моменты видео. Пункт 20 Правил №231 предусматривает хранение ранее принятых денег в устройствах на рабочем месте, закрывающихся на ключ. Это могут быть разные устройства, не только сейф. На слайде структура проверки, без кадров кейса и придуманных таймкодов.</a:t>
            </a:r>
          </a:p>
          <a:p xmlns:a="http://schemas.openxmlformats.org/drawingml/2006/main">
            <a:r>
              <a:t>Источник: https://adilet.zan.kz/rus/docs/V1900019680 , пункт 20, абзац 2. Применимость проверяется по контексту.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секунд. Команда вручную пересмотрела 42 записи. После проверки дублей это 40 уникальных видео. Мы сохранили уточнения по каждому ролику и подготовили разметку 18 типов наблюдений. Это число типов в разметке, а не число независимо подтверждённых надёжных классов. Изучены Правила №231 и №14. Наблюдение, обучающая метка и нормативное основание хранятся раздельно.</a:t>
            </a:r>
          </a:p>
          <a:p xmlns:a="http://schemas.openxmlformats.org/drawingml/2006/main">
            <a:r>
              <a:t>Источники: локальная сводка разметки data/review/adjudication-2026-10-18/adjudication.json и docs/NORMATIVE_MAPPING.md. №231: https://adilet.zan.kz/rus/docs/V1900019680 . №14: https://adilet.zan.kz/rus/docs/V2000020075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секунд. API принимает видео и помещает задание в очередь SQLite. Отдельный worker запускает замороженный DINOv2 и обученные RBF kernel-ridge головы на хронологических визуальных признаках. Backend извлекает исходные кадры. Видео не отправляется в облачный AI. Аудио и установление личности не используются. Нормативные ссылки берутся из подготовленного реестра. LoRA была отдельным экспериментом и не является текущей моделью сайта.</a:t>
            </a:r>
          </a:p>
          <a:p xmlns:a="http://schemas.openxmlformats.org/drawingml/2006/main">
            <a:r>
              <a:t>Источники: backend/app/main.py, backend/worker.py, ml/temporal_features.py и текущий temporal adapter проекта. Схема отражает локальный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секунд. Текущий pipeline обработал все 42 исходных файла без ошибок, вердикты и наборы категорий совпали с разметкой команды. Это повторный прогон обучающих примеров. На предварительно отложенных 8 видео до финального обучения вердикт совпал у 2, точный набор категорий у 1. Поэтому 42/42 нельзя выдавать за независимую accuracy. Времена событий требуют отдельной проверки. После переключения worker три загрузки через UI завершились за 4,1–5,4 секунды на MacBook Air M4 16 GB. Это три измерения, а не SLA.</a:t>
            </a:r>
          </a:p>
          <a:p xmlns:a="http://schemas.openxmlformats.org/drawingml/2006/main">
            <a:r>
              <a:t>Источник: итоговый локальный отчёт, сценарий outputs/presentation/forte-dvg-presentation-script.md и проверка UI на X-5, X-18, X-26. Не переносить показатели на новые камеры.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секунд. Мы собрали интерфейс и API, которые связывают видеозапись с проверяемой карточкой события. Следующий этап качества: больше размеченных примеров и независимая проверка на новых ракурсах. Forte DVG помогает специалисту найти основание для проверки. Вывод о нарушении и дальнейших действиях принимает человек.</a:t>
            </a:r>
          </a:p>
          <a:p xmlns:a="http://schemas.openxmlformats.org/drawingml/2006/main">
            <a:r>
              <a:t>Источник: реализованный MVP и ограничения локальной оценки. Демонстрация: https://intervals-without-connectors-explaining.trycloudflare.com . Временный адрес работает, пока Mac включён и туннель запущен. Ключ API в презентацию не включён.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6b71af0e448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c67b6016c4b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d819e386a40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dcc69ad804a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4862f284142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554c779f944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3C3D04-8A69-4259-A32C-4318B2EDED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832C84-F00F-4637-A54A-4486D1BBF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DC48D2-1239-4D39-8D15-44DCDA1F9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F19948-4AC6-40CA-ACE1-FA8AD5842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6D0AF5-8C3E-4B88-A834-7410F38782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908DC5-ED2C-438C-98D5-A1166D50A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F2C20B-421F-4EE1-B18C-EFCE4A690C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F52B02-958E-4F2B-BB4C-1C9B2695C2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ED12E7-022F-47C2-A74F-7AE70E9F3A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E68B8A-F6F0-4E31-8691-FA49199A3F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b2bfe181af4c4f" /><Relationship Type="http://schemas.openxmlformats.org/officeDocument/2006/relationships/slideLayout" Target="/ppt/slideLayouts/slideLayout1.xml" Id="R35ad348b321b489d" /><Relationship Type="http://schemas.openxmlformats.org/officeDocument/2006/relationships/slideLayout" Target="/ppt/slideLayouts/slideLayout2.xml" Id="Rc37171647f7b496f" /><Relationship Type="http://schemas.openxmlformats.org/officeDocument/2006/relationships/slideLayout" Target="/ppt/slideLayouts/slideLayout3.xml" Id="R3a2c8bed97644b77" /><Relationship Type="http://schemas.openxmlformats.org/officeDocument/2006/relationships/slideLayout" Target="/ppt/slideLayouts/slideLayout4.xml" Id="R14e1f54ddad0416e" /><Relationship Type="http://schemas.openxmlformats.org/officeDocument/2006/relationships/slideLayout" Target="/ppt/slideLayouts/slideLayout5.xml" Id="Re66b6872ffc445e6" /><Relationship Type="http://schemas.openxmlformats.org/officeDocument/2006/relationships/slideLayout" Target="/ppt/slideLayouts/slideLayout6.xml" Id="Rb8d14df44cd74a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ad348b321b489d"/>
    <p:sldLayoutId xmlns:r="http://schemas.openxmlformats.org/officeDocument/2006/relationships" id="2147483650" r:id="Rc37171647f7b496f"/>
    <p:sldLayoutId xmlns:r="http://schemas.openxmlformats.org/officeDocument/2006/relationships" id="2147483651" r:id="R3a2c8bed97644b77"/>
    <p:sldLayoutId xmlns:r="http://schemas.openxmlformats.org/officeDocument/2006/relationships" id="2147483652" r:id="R14e1f54ddad0416e"/>
    <p:sldLayoutId xmlns:r="http://schemas.openxmlformats.org/officeDocument/2006/relationships" id="2147483653" r:id="Re66b6872ffc445e6"/>
    <p:sldLayoutId xmlns:r="http://schemas.openxmlformats.org/officeDocument/2006/relationships" id="2147483654" r:id="Rb8d14df44cd74a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7f1e2f54a4db4" /><Relationship Type="http://schemas.openxmlformats.org/officeDocument/2006/relationships/notesSlide" Target="/ppt/notesSlides/notesSlide1.xml" Id="R962bb66b342d41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77e93a35ba4ec2" /><Relationship Type="http://schemas.openxmlformats.org/officeDocument/2006/relationships/notesSlide" Target="/ppt/notesSlides/notesSlide2.xml" Id="R041f4312ec8e46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e9303c2fb483b" /><Relationship Type="http://schemas.openxmlformats.org/officeDocument/2006/relationships/notesSlide" Target="/ppt/notesSlides/notesSlide3.xml" Id="R544579295dc940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4b8b5db75348ea" /><Relationship Type="http://schemas.openxmlformats.org/officeDocument/2006/relationships/notesSlide" Target="/ppt/notesSlides/notesSlide4.xml" Id="R6a0bbe34e79949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9d882fa5e44f3" /><Relationship Type="http://schemas.openxmlformats.org/officeDocument/2006/relationships/notesSlide" Target="/ppt/notesSlides/notesSlide5.xml" Id="R578e926bb5514e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e78c669d44a49" /><Relationship Type="http://schemas.openxmlformats.org/officeDocument/2006/relationships/notesSlide" Target="/ppt/notesSlides/notesSlide6.xml" Id="R8fecbb32552a43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adf0f6fc94335" /><Relationship Type="http://schemas.openxmlformats.org/officeDocument/2006/relationships/notesSlide" Target="/ppt/notesSlides/notesSlide7.xml" Id="Rc430267d784946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4866cf2694e42" /><Relationship Type="http://schemas.openxmlformats.org/officeDocument/2006/relationships/hyperlink" Target="https://intervals-without-connectors-explaining.trycloudflare.com" TargetMode="External" Id="Re02f9fd96b084d59" /><Relationship Type="http://schemas.openxmlformats.org/officeDocument/2006/relationships/notesSlide" Target="/ppt/notesSlides/notesSlide8.xml" Id="R5c83cc49b40645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927B9-666B-4966-BF1D-D8A95922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rPr>
              <a:t>Forte DVG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5ED5B-278F-4841-B0CF-E0817A39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5720E-91F0-4002-82BB-DD78D088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Forte DVG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EC2C2-9811-483E-AE21-3C55CE97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Проверка кассовых операций</a:t>
            </a:r>
          </a:p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 видео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FEFAE-9B08-4B2C-BC6B-71791F9E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rPr>
              <a:t>Время события. Исходные кадры. Нормативный источник.</a:t>
            </a:r>
          </a:p>
        </p:txBody>
      </p:sp>
    </p:spTree>
    <p:extLst>
      <p:ext uri="{BB962C8B-B14F-4D97-AF65-F5344CB8AC3E}">
        <p14:creationId xmlns:p14="http://schemas.microsoft.com/office/powerpoint/2010/main" val="687042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4747C-8B5D-44C9-9FB3-478AA7DA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Задача проверяющего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96FA3-8C85-4B75-B31B-58E91BA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Forte DVG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0929C-4570-4175-A686-0744C925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D4152-3897-4E4E-82FB-911417FA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43011-5A7F-41F2-8EC7-87B0C5FE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3837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Когда произошло?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DCEB1-82B4-4F92-BC1E-6383FB71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Найти точный момент записи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000F3-767E-47C2-8769-82FB6579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790A6-37E5-4218-8DB6-3071D71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995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Что видно?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2B550-7A60-49DD-9D84-97C1B0B4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Проверить событие по исходным кадрам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B75EE-F1B8-4A21-A868-20C5817B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52993-BD84-4526-8E78-04487B9E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815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Какое правило применимо?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231C9-7E25-4EFE-BE00-BF7108C7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768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Сопоставить наблюдение с нормативным источником</a:t>
            </a:r>
          </a:p>
        </p:txBody>
      </p:sp>
    </p:spTree>
    <p:extLst>
      <p:ext uri="{BB962C8B-B14F-4D97-AF65-F5344CB8AC3E}">
        <p14:creationId xmlns:p14="http://schemas.microsoft.com/office/powerpoint/2010/main" val="1033800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1D612-47C4-4F37-9D64-0ECE19A0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Пользовательский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8327E-3408-4C82-9F46-DC1C5D33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Forte DVG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4EF55-733D-41EE-A1C6-FBF18B3C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03AE9-776B-4401-85A3-52BB4605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9180E-A9E2-450E-84D1-926EC41E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Загрузка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03C3B-65FC-4D40-B746-49D50FC2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MOV или MP4</a:t>
            </a:r>
          </a:p>
          <a:p xmlns:a="http://schemas.openxmlformats.org/drawingml/2006/main">
            <a: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Номер задания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C312D-EDA5-4796-AD6A-00277AC5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955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4812B-851D-4105-AE26-1EC19C73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38525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Анализ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A2564-0D9A-4884-938E-77D7266F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6242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Статус обработки</a:t>
            </a:r>
          </a:p>
          <a:p xmlns:a="http://schemas.openxmlformats.org/drawingml/2006/main">
            <a: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Локальный worker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CCC3E-BE6C-45B1-ACED-C2B7D8E4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955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A7ABA-7BAA-49DD-9C7C-4C3CC1C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38525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071AD-300B-4CA9-A264-6C76938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6242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Вердикт и список событий</a:t>
            </a:r>
          </a:p>
          <a:p xmlns:a="http://schemas.openxmlformats.org/drawingml/2006/main">
            <a:pPr algn="l">
              <a:def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Видео рядом с результатом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2EB2C-E223-4A17-8A84-D60638F8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Выбор события открывает соответствующий момент видео</a:t>
            </a:r>
          </a:p>
        </p:txBody>
      </p:sp>
    </p:spTree>
    <p:extLst>
      <p:ext uri="{BB962C8B-B14F-4D97-AF65-F5344CB8AC3E}">
        <p14:creationId xmlns:p14="http://schemas.microsoft.com/office/powerpoint/2010/main" val="2058643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FD333-EF88-4C5D-92FE-8E849CFD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Проверяемое событие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FD633-D518-4A12-8CDD-E25DAD6A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Forte DVG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595A3-B301-4ACD-BC78-B907E686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91B9E-F7B5-489B-8656-030E9717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Возможное оставление</a:t>
            </a:r>
          </a:p>
          <a:p xmlns:a="http://schemas.openxmlformats.org/drawingml/2006/main">
            <a:pPr algn="l">
              <a:def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принятых банкнот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BB5F0-4FBC-41E8-AC2B-4EEC7688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71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Нужно подтвердить завершение обслуживания</a:t>
            </a:r>
          </a:p>
          <a:p xmlns:a="http://schemas.openxmlformats.org/drawingml/2006/main">
            <a: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и принадлежность денег завершённой операции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8D248-2C35-4371-AA86-516360F5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Схема проверки. Реальные кадры доступны в продукте.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FA886-4452-40ED-BC96-8934DCE1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Время события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62AC8-14A5-45DF-BE3E-D7CA227D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622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Секунды от начала записи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301D5-1B79-4B65-84D4-D1F8E0CA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1–3 исходных кадра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2C409-C3E0-4BF2-836C-2F9776C8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814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Контекст до и после события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57004-8E1D-4C55-AEB2-A8B1E45D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720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Правила №231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D5868-D4B8-4696-AEE4-532A9005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Пункт 20, абзац 2</a:t>
            </a:r>
          </a:p>
          <a:p xmlns:a="http://schemas.openxmlformats.org/drawingml/2006/main">
            <a:pPr algn="l">
              <a:def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Хранение принятых денег под ключом</a:t>
            </a:r>
          </a:p>
        </p:txBody>
      </p:sp>
    </p:spTree>
    <p:extLst>
      <p:ext uri="{BB962C8B-B14F-4D97-AF65-F5344CB8AC3E}">
        <p14:creationId xmlns:p14="http://schemas.microsoft.com/office/powerpoint/2010/main" val="932996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3AA69-2202-4CFE-8BC8-D0760AB7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Разметка и нормативная база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2FB08-A26F-4583-A85D-394FC03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Forte DVG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A6977-DC5E-4C6B-87F1-B4390C4E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E8551-A8FF-4CFC-AC11-9D2B9B37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429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42 / 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1AD2E-6DBF-4431-BC8D-BF5AF08B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записи / уникальные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FD207-6887-4A50-A40E-8C83E629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19350"/>
            <a:ext cx="3429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825F3-618D-43CF-894A-F9CCDBFE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типов наблюдений</a:t>
            </a:r>
          </a:p>
          <a:p xmlns:a="http://schemas.openxmlformats.org/drawingml/2006/main">
            <a: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в разметке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B25BE-2226-4E6A-BEB9-DD29C831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3429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9EE1C-928C-44D8-803D-71D1B42A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публичных документа</a:t>
            </a:r>
          </a:p>
          <a:p xmlns:a="http://schemas.openxmlformats.org/drawingml/2006/main">
            <a:pPr algn="l">
              <a:def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НБРК: №231 и №14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BB2CA-D23B-4D9F-86E4-5D273E0A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Наблюдение, обучающая метка и основание хранятся раздельно</a:t>
            </a:r>
          </a:p>
        </p:txBody>
      </p:sp>
    </p:spTree>
    <p:extLst>
      <p:ext uri="{BB962C8B-B14F-4D97-AF65-F5344CB8AC3E}">
        <p14:creationId xmlns:p14="http://schemas.microsoft.com/office/powerpoint/2010/main" val="13002293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9F08E-0EBD-4312-AA24-1170B75400F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915275" y="33194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1551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6B582-24CF-4B1B-9E69-F71EF618D05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57650" y="33194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1551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6CE36-EAD0-4633-920B-1FF9B361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Локальная обработка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59B62-4B67-4A43-917D-BABAD7C8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Forte DVG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53701-48A6-43AE-B3B0-0AC03D5B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BDD60-4AA7-4AA1-B5B4-693C4D45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33337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F4"/>
          </a:solidFill>
          <a:ln xmlns:a="http://schemas.openxmlformats.org/drawingml/2006/main" w="9525">
            <a:solidFill>
              <a:srgbClr val="DBCB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2C6E4-4E7F-467E-B901-DDCD6DD2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924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API и очередь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6C2B5-04C3-4290-B3BF-3CF9DCDD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29241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FastAPI, X-API-Key</a:t>
            </a:r>
          </a:p>
          <a:p xmlns:a="http://schemas.openxmlformats.org/drawingml/2006/main">
            <a: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3BEA4-5113-4170-9D00-360CBBBB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90775"/>
            <a:ext cx="33337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F4"/>
          </a:solidFill>
          <a:ln xmlns:a="http://schemas.openxmlformats.org/drawingml/2006/main" w="9525">
            <a:solidFill>
              <a:srgbClr val="DBCB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00B2B-EDC0-4C10-8A32-00C0ED08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47950"/>
            <a:ext cx="2924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E8E13-3C99-4535-9E66-B9787135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267075"/>
            <a:ext cx="29241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DINOv2</a:t>
            </a:r>
          </a:p>
          <a:p xmlns:a="http://schemas.openxmlformats.org/drawingml/2006/main">
            <a: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Временные RBF-головы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CFB2A-BC0C-496D-8D75-2079F8DB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90775"/>
            <a:ext cx="33337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F4"/>
          </a:solidFill>
          <a:ln xmlns:a="http://schemas.openxmlformats.org/drawingml/2006/main" w="9525">
            <a:solidFill>
              <a:srgbClr val="DBCBD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81EE7-BC63-45E6-9451-FFE63C9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2924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E74C0-EA9F-4FAC-AF42-A2E5417B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67075"/>
            <a:ext cx="29241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Исходные JPEG</a:t>
            </a:r>
          </a:p>
          <a:p xmlns:a="http://schemas.openxmlformats.org/drawingml/2006/main">
            <a:pPr algn="l">
              <a:def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Реестр нормативных ссылок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CE6D9-5F60-41F5-90BD-E06FB02F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Без облачного AI, аудио и установления личности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F2980-B4B3-4660-8E88-292342FB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Проверяющий сопоставляет вывод с исходным видео</a:t>
            </a:r>
          </a:p>
        </p:txBody>
      </p:sp>
    </p:spTree>
    <p:extLst>
      <p:ext uri="{BB962C8B-B14F-4D97-AF65-F5344CB8AC3E}">
        <p14:creationId xmlns:p14="http://schemas.microsoft.com/office/powerpoint/2010/main" val="1623730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C31C6-754E-4672-A745-49A8976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Проверка качества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6276F-262D-4C07-ABF7-FAC74926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Forte DVG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D9794-61AB-4090-815F-DAE11FDC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4FE8F-8451-492D-8EF5-9603566B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42 / 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16D2E-62AE-4FDD-AE9D-BE151EDC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90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файла обработаны без ошибок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4E9C3-9587-449F-9ABD-C472D2E2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905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Вердикты и категории совпали</a:t>
            </a:r>
          </a:p>
          <a:p xmlns:a="http://schemas.openxmlformats.org/drawingml/2006/main">
            <a: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в повторном прогоне обучения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6E8E4-CDDB-4A01-A5D8-B37CE5FD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43125"/>
            <a:ext cx="4429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2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BC107-E4AF-4537-BC6C-0926E533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6141D"/>
                </a:solidFill>
                <a:latin typeface="Helvetica Neue"/>
                <a:ea typeface="Helvetica Neue"/>
                <a:cs typeface="Helvetica Neue"/>
              </a:rPr>
              <a:t>вердикта на отложенной проверке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2E856-F9DE-4422-A9B0-D3CEF0CE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57675"/>
            <a:ext cx="4429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До финального обучения</a:t>
            </a:r>
          </a:p>
          <a:p xmlns:a="http://schemas.openxmlformats.org/drawingml/2006/main">
            <a:pPr algn="l">
              <a:def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6569"/>
                </a:solidFill>
                <a:latin typeface="Helvetica Neue"/>
                <a:ea typeface="Helvetica Neue"/>
                <a:cs typeface="Helvetica Neue"/>
              </a:rPr>
              <a:t>Новые ракурсы требуют проверки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DDFA0-B297-41C1-A870-B8154B6E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31551"/>
                </a:solidFill>
                <a:latin typeface="Helvetica Neue"/>
                <a:ea typeface="Helvetica Neue"/>
                <a:cs typeface="Helvetica Neue"/>
              </a:rPr>
              <a:t>4,1–5,4 с на видео: три загрузки через UI, MacBook Air M4 16 GB</a:t>
            </a:r>
          </a:p>
        </p:txBody>
      </p:sp>
    </p:spTree>
    <p:extLst>
      <p:ext uri="{BB962C8B-B14F-4D97-AF65-F5344CB8AC3E}">
        <p14:creationId xmlns:p14="http://schemas.microsoft.com/office/powerpoint/2010/main" val="158470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24CAB-ADA2-4B16-87FD-CBDBE7E7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Результат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D3832-7733-4305-A84E-9F868087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3DCE6"/>
                </a:solidFill>
                <a:latin typeface="Helvetica Neue"/>
                <a:ea typeface="Helvetica Neue"/>
                <a:cs typeface="Helvetica Neue"/>
              </a:rPr>
              <a:t>Forte DVG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118E9-1739-4ABE-88C6-27DA74B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1E9D5-69AF-47F9-8B03-E6CD86FB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572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Видео с проверяемыми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карточками событий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20D6F-B199-47C0-9E38-516285A4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Время, исходные кадры, объяснение и источник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A9F60-F4EF-465B-82FD-881CBB32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u="sng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e02f9fd96b084d59"/>
              </a:rPr>
              <a:t>Открыть демонстрацию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5405F-0ACF-48F2-8840-8596108E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rPr>
              <a:t>Временный адрес. Mac должен оставаться включённым.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999C8-C86E-4582-8A87-10767AC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rPr>
              <a:t>Следующий этап: проверка на новых ракурсах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A5193-2192-40E2-8260-8996662A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DCE6"/>
                </a:solidFill>
                <a:latin typeface="Helvetica Neue"/>
                <a:ea typeface="Helvetica Neue"/>
                <a:cs typeface="Helvetica Neue"/>
              </a:rPr>
              <a:t>Подсказка для человека. Не юридическое заключение.</a:t>
            </a:r>
          </a:p>
        </p:txBody>
      </p:sp>
    </p:spTree>
    <p:extLst>
      <p:ext uri="{BB962C8B-B14F-4D97-AF65-F5344CB8AC3E}">
        <p14:creationId xmlns:p14="http://schemas.microsoft.com/office/powerpoint/2010/main" val="2018556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2026-10-18T04:09:39.1350000Z</dcterms:created>
  <dcterms:modified xsi:type="dcterms:W3CDTF">2026-10-18T04:09:39.1350000Z</dcterms:modified>
</coreProperties>
</file>